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Archivo Light"/>
      <p:regular r:id="rId12"/>
      <p:bold r:id="rId13"/>
      <p:italic r:id="rId14"/>
      <p:boldItalic r:id="rId15"/>
    </p:embeddedFont>
    <p:embeddedFont>
      <p:font typeface="Roboto"/>
      <p:regular r:id="rId16"/>
      <p:bold r:id="rId17"/>
      <p:italic r:id="rId18"/>
      <p:boldItalic r:id="rId19"/>
    </p:embeddedFont>
    <p:embeddedFont>
      <p:font typeface="Archivo ExtraBold"/>
      <p:bold r:id="rId20"/>
      <p:boldItalic r:id="rId21"/>
    </p:embeddedFont>
    <p:embeddedFont>
      <p:font typeface="Archiv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tpfSW7oGogxVIlSz/xUlrdSF2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chivoExtraBold-bold.fntdata"/><Relationship Id="rId22" Type="http://schemas.openxmlformats.org/officeDocument/2006/relationships/font" Target="fonts/Archivo-regular.fntdata"/><Relationship Id="rId21" Type="http://schemas.openxmlformats.org/officeDocument/2006/relationships/font" Target="fonts/ArchivoExtraBold-boldItalic.fntdata"/><Relationship Id="rId24" Type="http://schemas.openxmlformats.org/officeDocument/2006/relationships/font" Target="fonts/Archivo-italic.fntdata"/><Relationship Id="rId23" Type="http://schemas.openxmlformats.org/officeDocument/2006/relationships/font" Target="fonts/Archiv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Archiv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chivoLight-bold.fntdata"/><Relationship Id="rId12" Type="http://schemas.openxmlformats.org/officeDocument/2006/relationships/font" Target="fonts/ArchivoLight-regular.fntdata"/><Relationship Id="rId15" Type="http://schemas.openxmlformats.org/officeDocument/2006/relationships/font" Target="fonts/ArchivoLight-boldItalic.fntdata"/><Relationship Id="rId14" Type="http://schemas.openxmlformats.org/officeDocument/2006/relationships/font" Target="fonts/ArchivoLight-italic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" name="Google Shape;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" name="Google Shape;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5678d991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g395678d991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" name="Google Shape;4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5ecbfe78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95ecbfe78d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3">
  <p:cSld name="Portada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índice y contenido 2">
  <p:cSld name="índice y contenido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3">
  <p:cSld name="Contenido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/ Título 3">
  <p:cSld name="Contenido / Título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/ Título 2">
  <p:cSld name="Contenido / Título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1">
  <p:cSld name="Contenido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2">
  <p:cSld name="Contenido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índice y contenido">
  <p:cSld name="índice y conteni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4">
  <p:cSld name="Portada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/ Título ">
  <p:cSld name="Contenido / Título 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2">
  <p:cSld name="Portada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1">
  <p:cSld name="Portada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índice y contenido 3">
  <p:cSld name="índice y contenido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6950" y="2531696"/>
            <a:ext cx="812800" cy="24511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512676" y="2476350"/>
            <a:ext cx="677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s-ES" sz="4800">
                <a:solidFill>
                  <a:srgbClr val="ED7402"/>
                </a:solidFill>
                <a:highlight>
                  <a:srgbClr val="F0EEE6"/>
                </a:highlight>
                <a:latin typeface="Roboto"/>
                <a:ea typeface="Roboto"/>
                <a:cs typeface="Roboto"/>
                <a:sym typeface="Roboto"/>
              </a:rPr>
              <a:t>Esperas Implícitas con Selenium</a:t>
            </a:r>
            <a:endParaRPr b="1" sz="6000">
              <a:solidFill>
                <a:srgbClr val="ED740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/>
        </p:nvSpPr>
        <p:spPr>
          <a:xfrm>
            <a:off x="468925" y="1233950"/>
            <a:ext cx="2466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ES" sz="6000" u="none" cap="none" strike="noStrike">
                <a:solidFill>
                  <a:srgbClr val="ED7402"/>
                </a:solidFill>
                <a:latin typeface="Archivo"/>
                <a:ea typeface="Archivo"/>
                <a:cs typeface="Archivo"/>
                <a:sym typeface="Archivo"/>
              </a:rPr>
              <a:t>Índice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"/>
          <p:cNvSpPr txBox="1"/>
          <p:nvPr/>
        </p:nvSpPr>
        <p:spPr>
          <a:xfrm>
            <a:off x="895125" y="2875000"/>
            <a:ext cx="9708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ES" sz="3000" u="none" cap="none" strike="noStrike">
                <a:solidFill>
                  <a:srgbClr val="ED7402"/>
                </a:solidFill>
                <a:latin typeface="Archivo Light"/>
                <a:ea typeface="Archivo Light"/>
                <a:cs typeface="Archivo Light"/>
                <a:sym typeface="Archivo Light"/>
              </a:rPr>
              <a:t>01</a:t>
            </a:r>
            <a:r>
              <a:rPr b="0" i="0" lang="es-ES" sz="3000" u="none" cap="none" strike="noStrike">
                <a:solidFill>
                  <a:srgbClr val="F0EAE3"/>
                </a:solidFill>
                <a:latin typeface="Archivo Light"/>
                <a:ea typeface="Archivo Light"/>
                <a:cs typeface="Archivo Light"/>
                <a:sym typeface="Archivo Light"/>
              </a:rPr>
              <a:t>	</a:t>
            </a:r>
            <a:r>
              <a:rPr b="0" i="0" lang="es-ES" sz="3000" u="none" cap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	</a:t>
            </a:r>
            <a:r>
              <a:rPr lang="es-ES" sz="3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Definición</a:t>
            </a:r>
            <a:endParaRPr b="0" i="0" sz="3000" u="none" cap="none" strike="noStrike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ES" sz="3000" u="none" cap="none" strike="noStrike">
                <a:solidFill>
                  <a:srgbClr val="ED7402"/>
                </a:solidFill>
                <a:latin typeface="Archivo Light"/>
                <a:ea typeface="Archivo Light"/>
                <a:cs typeface="Archivo Light"/>
                <a:sym typeface="Archivo Light"/>
              </a:rPr>
              <a:t>02		</a:t>
            </a:r>
            <a:r>
              <a:rPr lang="es-ES" sz="3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Configuración</a:t>
            </a:r>
            <a:endParaRPr b="0" i="0" sz="3000" u="none" cap="none" strike="noStrike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ES" sz="3000" u="none" cap="none" strike="noStrike">
                <a:solidFill>
                  <a:srgbClr val="ED7402"/>
                </a:solidFill>
                <a:latin typeface="Archivo Light"/>
                <a:ea typeface="Archivo Light"/>
                <a:cs typeface="Archivo Light"/>
                <a:sym typeface="Archivo Light"/>
              </a:rPr>
              <a:t>03</a:t>
            </a:r>
            <a:r>
              <a:rPr b="0" i="0" lang="es-ES" sz="3000" u="none" cap="none" strike="noStrike">
                <a:solidFill>
                  <a:srgbClr val="F0EAE3"/>
                </a:solidFill>
                <a:latin typeface="Archivo Light"/>
                <a:ea typeface="Archivo Light"/>
                <a:cs typeface="Archivo Light"/>
                <a:sym typeface="Archivo Light"/>
              </a:rPr>
              <a:t>	</a:t>
            </a:r>
            <a:r>
              <a:rPr b="0" i="0" lang="es-ES" sz="3000" u="none" cap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	</a:t>
            </a:r>
            <a:r>
              <a:rPr lang="es-ES" sz="3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ES" sz="3000" u="none" cap="none" strike="noStrike">
                <a:solidFill>
                  <a:srgbClr val="ED7402"/>
                </a:solidFill>
                <a:latin typeface="Archivo Light"/>
                <a:ea typeface="Archivo Light"/>
                <a:cs typeface="Archivo Light"/>
                <a:sym typeface="Archivo Light"/>
              </a:rPr>
              <a:t>04</a:t>
            </a:r>
            <a:r>
              <a:rPr b="0" i="0" lang="es-ES" sz="3000" u="none" cap="none" strike="noStrike">
                <a:solidFill>
                  <a:srgbClr val="F0EAE3"/>
                </a:solidFill>
                <a:latin typeface="Archivo Light"/>
                <a:ea typeface="Archivo Light"/>
                <a:cs typeface="Archivo Light"/>
                <a:sym typeface="Archivo Light"/>
              </a:rPr>
              <a:t>	</a:t>
            </a:r>
            <a:r>
              <a:rPr b="0" i="0" lang="es-ES" sz="3000" u="none" cap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	</a:t>
            </a:r>
            <a:r>
              <a:rPr lang="es-ES" sz="3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Ejemplo</a:t>
            </a:r>
            <a:endParaRPr b="0" i="0" sz="3000" u="none" cap="none" strike="noStrike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ES" sz="3000" u="none" cap="none" strike="noStrike">
                <a:solidFill>
                  <a:srgbClr val="ED7402"/>
                </a:solidFill>
                <a:latin typeface="Archivo Light"/>
                <a:ea typeface="Archivo Light"/>
                <a:cs typeface="Archivo Light"/>
                <a:sym typeface="Archivo Light"/>
              </a:rPr>
              <a:t>05		</a:t>
            </a:r>
            <a:r>
              <a:rPr b="0" i="0" lang="es-ES" sz="3000" u="none" cap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Casos reales y modelo práctico de comunicación</a:t>
            </a:r>
            <a:endParaRPr b="0" i="0" sz="3000" u="none" cap="none" strike="noStrike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ES" sz="3000" u="none" cap="none" strike="noStrike">
                <a:solidFill>
                  <a:srgbClr val="ED7402"/>
                </a:solidFill>
                <a:latin typeface="Archivo Light"/>
                <a:ea typeface="Archivo Light"/>
                <a:cs typeface="Archivo Light"/>
                <a:sym typeface="Archivo Light"/>
              </a:rPr>
              <a:t>06</a:t>
            </a:r>
            <a:r>
              <a:rPr b="0" i="0" lang="es-ES" sz="3000" u="none" cap="none" strike="noStrike">
                <a:solidFill>
                  <a:srgbClr val="F0EAE3"/>
                </a:solidFill>
                <a:latin typeface="Archivo Light"/>
                <a:ea typeface="Archivo Light"/>
                <a:cs typeface="Archivo Light"/>
                <a:sym typeface="Archivo Light"/>
              </a:rPr>
              <a:t>	</a:t>
            </a:r>
            <a:r>
              <a:rPr b="0" i="0" lang="es-ES" sz="3000" u="none" cap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	IA: El reto no es técnico, es humano</a:t>
            </a:r>
            <a:endParaRPr b="0" i="0" sz="3000" u="none" cap="none" strike="noStrike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95678d9915_0_1"/>
          <p:cNvSpPr txBox="1"/>
          <p:nvPr/>
        </p:nvSpPr>
        <p:spPr>
          <a:xfrm>
            <a:off x="628200" y="600300"/>
            <a:ext cx="1028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s-ES" sz="4200">
                <a:solidFill>
                  <a:srgbClr val="ED7402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El problema: páginas dinámicas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395678d9915_0_1"/>
          <p:cNvSpPr txBox="1"/>
          <p:nvPr/>
        </p:nvSpPr>
        <p:spPr>
          <a:xfrm>
            <a:off x="3736500" y="1431600"/>
            <a:ext cx="4719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700"/>
              <a:t>El test corre más rápido que el navegador</a:t>
            </a:r>
            <a:endParaRPr b="1" sz="1700"/>
          </a:p>
        </p:txBody>
      </p:sp>
      <p:sp>
        <p:nvSpPr>
          <p:cNvPr id="37" name="Google Shape;37;g395678d9915_0_1"/>
          <p:cNvSpPr/>
          <p:nvPr/>
        </p:nvSpPr>
        <p:spPr>
          <a:xfrm>
            <a:off x="955038" y="2470775"/>
            <a:ext cx="1624500" cy="819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Test Inicia</a:t>
            </a:r>
            <a:endParaRPr/>
          </a:p>
        </p:txBody>
      </p:sp>
      <p:sp>
        <p:nvSpPr>
          <p:cNvPr id="38" name="Google Shape;38;g395678d9915_0_1"/>
          <p:cNvSpPr/>
          <p:nvPr/>
        </p:nvSpPr>
        <p:spPr>
          <a:xfrm>
            <a:off x="3771388" y="2470775"/>
            <a:ext cx="1624500" cy="8199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Driver busca elemento</a:t>
            </a:r>
            <a:endParaRPr/>
          </a:p>
        </p:txBody>
      </p:sp>
      <p:sp>
        <p:nvSpPr>
          <p:cNvPr id="39" name="Google Shape;39;g395678d9915_0_1"/>
          <p:cNvSpPr/>
          <p:nvPr/>
        </p:nvSpPr>
        <p:spPr>
          <a:xfrm>
            <a:off x="6634025" y="2470775"/>
            <a:ext cx="1624500" cy="8199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Elemento aún no cargó</a:t>
            </a:r>
            <a:endParaRPr/>
          </a:p>
        </p:txBody>
      </p:sp>
      <p:sp>
        <p:nvSpPr>
          <p:cNvPr id="40" name="Google Shape;40;g395678d9915_0_1"/>
          <p:cNvSpPr/>
          <p:nvPr/>
        </p:nvSpPr>
        <p:spPr>
          <a:xfrm>
            <a:off x="9496663" y="2470775"/>
            <a:ext cx="1740300" cy="819900"/>
          </a:xfrm>
          <a:prstGeom prst="roundRect">
            <a:avLst>
              <a:gd fmla="val 16667" name="adj"/>
            </a:avLst>
          </a:prstGeom>
          <a:solidFill>
            <a:srgbClr val="CC412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NoSouchElementException</a:t>
            </a:r>
            <a:endParaRPr/>
          </a:p>
        </p:txBody>
      </p:sp>
      <p:cxnSp>
        <p:nvCxnSpPr>
          <p:cNvPr id="41" name="Google Shape;41;g395678d9915_0_1"/>
          <p:cNvCxnSpPr>
            <a:stCxn id="37" idx="3"/>
            <a:endCxn id="38" idx="1"/>
          </p:cNvCxnSpPr>
          <p:nvPr/>
        </p:nvCxnSpPr>
        <p:spPr>
          <a:xfrm>
            <a:off x="2579538" y="2880725"/>
            <a:ext cx="119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" name="Google Shape;42;g395678d9915_0_1"/>
          <p:cNvCxnSpPr>
            <a:stCxn id="38" idx="3"/>
            <a:endCxn id="39" idx="1"/>
          </p:cNvCxnSpPr>
          <p:nvPr/>
        </p:nvCxnSpPr>
        <p:spPr>
          <a:xfrm>
            <a:off x="5395888" y="2880725"/>
            <a:ext cx="1238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" name="Google Shape;43;g395678d9915_0_1"/>
          <p:cNvCxnSpPr>
            <a:stCxn id="39" idx="3"/>
            <a:endCxn id="40" idx="1"/>
          </p:cNvCxnSpPr>
          <p:nvPr/>
        </p:nvCxnSpPr>
        <p:spPr>
          <a:xfrm>
            <a:off x="8258525" y="2880725"/>
            <a:ext cx="1238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" name="Google Shape;44;g395678d9915_0_1"/>
          <p:cNvSpPr/>
          <p:nvPr/>
        </p:nvSpPr>
        <p:spPr>
          <a:xfrm>
            <a:off x="955050" y="4884325"/>
            <a:ext cx="10281900" cy="928200"/>
          </a:xfrm>
          <a:prstGeom prst="roundRect">
            <a:avLst>
              <a:gd fmla="val 16667" name="adj"/>
            </a:avLst>
          </a:prstGeom>
          <a:solidFill>
            <a:srgbClr val="0C343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>
                <a:solidFill>
                  <a:srgbClr val="FF0000"/>
                </a:solidFill>
              </a:rPr>
              <a:t>Solución: Necesitamos sincronizar el test con la carga del navegador     Esperas(Waits)</a:t>
            </a:r>
            <a:endParaRPr sz="1700">
              <a:solidFill>
                <a:srgbClr val="FF0000"/>
              </a:solidFill>
            </a:endParaRPr>
          </a:p>
        </p:txBody>
      </p:sp>
      <p:sp>
        <p:nvSpPr>
          <p:cNvPr id="45" name="Google Shape;45;g395678d9915_0_1"/>
          <p:cNvSpPr/>
          <p:nvPr/>
        </p:nvSpPr>
        <p:spPr>
          <a:xfrm>
            <a:off x="955050" y="3788350"/>
            <a:ext cx="10281900" cy="928200"/>
          </a:xfrm>
          <a:prstGeom prst="roundRect">
            <a:avLst>
              <a:gd fmla="val 16667" name="adj"/>
            </a:avLst>
          </a:prstGeom>
          <a:solidFill>
            <a:srgbClr val="0C343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rgbClr val="FF0000"/>
                </a:solidFill>
              </a:rPr>
              <a:t>NoSouchElementException: Unable to locate element</a:t>
            </a:r>
            <a:endParaRPr sz="2200">
              <a:solidFill>
                <a:srgbClr val="FF0000"/>
              </a:solidFill>
            </a:endParaRPr>
          </a:p>
        </p:txBody>
      </p:sp>
      <p:cxnSp>
        <p:nvCxnSpPr>
          <p:cNvPr id="46" name="Google Shape;46;g395678d9915_0_1"/>
          <p:cNvCxnSpPr/>
          <p:nvPr/>
        </p:nvCxnSpPr>
        <p:spPr>
          <a:xfrm flipH="1" rot="10800000">
            <a:off x="8367530" y="5347667"/>
            <a:ext cx="2400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/>
        </p:nvSpPr>
        <p:spPr>
          <a:xfrm>
            <a:off x="165639" y="3059542"/>
            <a:ext cx="562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b="1" i="0" lang="es-ES" sz="4200" u="none" cap="none" strike="noStrike">
                <a:solidFill>
                  <a:srgbClr val="ED7402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1. </a:t>
            </a:r>
            <a:r>
              <a:rPr b="1" lang="es-ES" sz="4200">
                <a:solidFill>
                  <a:srgbClr val="ED7402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Definición</a:t>
            </a:r>
            <a:endParaRPr b="1" i="0" sz="3000" u="none" cap="none" strike="noStrike">
              <a:solidFill>
                <a:srgbClr val="ED7402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2" name="Google Shape;52;p16"/>
          <p:cNvSpPr txBox="1"/>
          <p:nvPr/>
        </p:nvSpPr>
        <p:spPr>
          <a:xfrm>
            <a:off x="6562675" y="1071900"/>
            <a:ext cx="5129700" cy="49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/>
              <a:t>Las esperas </a:t>
            </a:r>
            <a:r>
              <a:rPr lang="es-ES" sz="2400"/>
              <a:t>implícitas</a:t>
            </a:r>
            <a:r>
              <a:rPr lang="es-ES" sz="2400"/>
              <a:t> (Implicit  Waits) le indican a Selenium que espere un tiempo determinado antes de lanzar una excepción </a:t>
            </a:r>
            <a:r>
              <a:rPr b="1" lang="es-ES" sz="2400"/>
              <a:t>NoSouchElementException</a:t>
            </a:r>
            <a:r>
              <a:rPr lang="es-ES" sz="2400"/>
              <a:t> cuando no encuentra un elemento en el DOM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 rot="10800000">
            <a:off x="0" y="1040351"/>
            <a:ext cx="6448800" cy="972900"/>
          </a:xfrm>
          <a:prstGeom prst="round1Rect">
            <a:avLst>
              <a:gd fmla="val 16667" name="adj"/>
            </a:avLst>
          </a:prstGeom>
          <a:solidFill>
            <a:srgbClr val="ED74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1"/>
          <p:cNvSpPr txBox="1"/>
          <p:nvPr/>
        </p:nvSpPr>
        <p:spPr>
          <a:xfrm>
            <a:off x="347401" y="1173300"/>
            <a:ext cx="5754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s-ES" sz="39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¿Como funciona?</a:t>
            </a:r>
            <a:endParaRPr b="1" i="0" sz="39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9" name="Google Shape;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788317" y="-483390"/>
            <a:ext cx="633911" cy="191163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1"/>
          <p:cNvSpPr/>
          <p:nvPr/>
        </p:nvSpPr>
        <p:spPr>
          <a:xfrm>
            <a:off x="487463" y="2468250"/>
            <a:ext cx="1624500" cy="819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	Driver busca elemento</a:t>
            </a:r>
            <a:endParaRPr/>
          </a:p>
        </p:txBody>
      </p:sp>
      <p:sp>
        <p:nvSpPr>
          <p:cNvPr id="61" name="Google Shape;61;p11"/>
          <p:cNvSpPr/>
          <p:nvPr/>
        </p:nvSpPr>
        <p:spPr>
          <a:xfrm>
            <a:off x="2941675" y="2470775"/>
            <a:ext cx="1624500" cy="819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¿Encontrado?</a:t>
            </a:r>
            <a:endParaRPr/>
          </a:p>
        </p:txBody>
      </p:sp>
      <p:sp>
        <p:nvSpPr>
          <p:cNvPr id="62" name="Google Shape;62;p11"/>
          <p:cNvSpPr/>
          <p:nvPr/>
        </p:nvSpPr>
        <p:spPr>
          <a:xfrm>
            <a:off x="5283750" y="2468250"/>
            <a:ext cx="1624500" cy="819900"/>
          </a:xfrm>
          <a:prstGeom prst="roundRect">
            <a:avLst>
              <a:gd fmla="val 16667" name="adj"/>
            </a:avLst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Espera 500ms y reintenta</a:t>
            </a:r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7625813" y="2468250"/>
            <a:ext cx="1740300" cy="8199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¿Tiempo agotado?</a:t>
            </a:r>
            <a:endParaRPr/>
          </a:p>
        </p:txBody>
      </p:sp>
      <p:cxnSp>
        <p:nvCxnSpPr>
          <p:cNvPr id="64" name="Google Shape;64;p11"/>
          <p:cNvCxnSpPr>
            <a:stCxn id="60" idx="3"/>
            <a:endCxn id="61" idx="1"/>
          </p:cNvCxnSpPr>
          <p:nvPr/>
        </p:nvCxnSpPr>
        <p:spPr>
          <a:xfrm>
            <a:off x="2111963" y="2878200"/>
            <a:ext cx="829800" cy="2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11"/>
          <p:cNvCxnSpPr>
            <a:stCxn id="61" idx="3"/>
          </p:cNvCxnSpPr>
          <p:nvPr/>
        </p:nvCxnSpPr>
        <p:spPr>
          <a:xfrm flipH="1" rot="10800000">
            <a:off x="4566175" y="2875925"/>
            <a:ext cx="707100" cy="4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1"/>
          <p:cNvCxnSpPr>
            <a:stCxn id="62" idx="3"/>
            <a:endCxn id="63" idx="1"/>
          </p:cNvCxnSpPr>
          <p:nvPr/>
        </p:nvCxnSpPr>
        <p:spPr>
          <a:xfrm>
            <a:off x="6908250" y="2878200"/>
            <a:ext cx="717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1"/>
          <p:cNvSpPr/>
          <p:nvPr/>
        </p:nvSpPr>
        <p:spPr>
          <a:xfrm>
            <a:off x="10083688" y="2468250"/>
            <a:ext cx="1740300" cy="8199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Retorna elemento</a:t>
            </a:r>
            <a:endParaRPr/>
          </a:p>
        </p:txBody>
      </p:sp>
      <p:cxnSp>
        <p:nvCxnSpPr>
          <p:cNvPr id="68" name="Google Shape;68;p11"/>
          <p:cNvCxnSpPr>
            <a:stCxn id="63" idx="3"/>
            <a:endCxn id="67" idx="1"/>
          </p:cNvCxnSpPr>
          <p:nvPr/>
        </p:nvCxnSpPr>
        <p:spPr>
          <a:xfrm>
            <a:off x="9366113" y="2878200"/>
            <a:ext cx="717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1"/>
          <p:cNvSpPr/>
          <p:nvPr/>
        </p:nvSpPr>
        <p:spPr>
          <a:xfrm>
            <a:off x="687348" y="5437923"/>
            <a:ext cx="5247300" cy="69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/>
              <a:t>Polling automático</a:t>
            </a:r>
            <a:br>
              <a:rPr b="1" lang="es-ES"/>
            </a:br>
            <a:r>
              <a:rPr lang="es-ES"/>
              <a:t>Reintenta cada ~500ms hasta el timeout</a:t>
            </a:r>
            <a:endParaRPr/>
          </a:p>
        </p:txBody>
      </p:sp>
      <p:sp>
        <p:nvSpPr>
          <p:cNvPr id="70" name="Google Shape;70;p11"/>
          <p:cNvSpPr/>
          <p:nvPr/>
        </p:nvSpPr>
        <p:spPr>
          <a:xfrm>
            <a:off x="639875" y="4464648"/>
            <a:ext cx="5247300" cy="69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/>
              <a:t>Alcance Global</a:t>
            </a:r>
            <a:br>
              <a:rPr b="1" lang="es-ES"/>
            </a:br>
            <a:r>
              <a:rPr lang="es-ES"/>
              <a:t>Se activa una vez y aplica a toda la sesión del WebDriver</a:t>
            </a:r>
            <a:endParaRPr/>
          </a:p>
        </p:txBody>
      </p:sp>
      <p:sp>
        <p:nvSpPr>
          <p:cNvPr id="71" name="Google Shape;71;p11"/>
          <p:cNvSpPr/>
          <p:nvPr/>
        </p:nvSpPr>
        <p:spPr>
          <a:xfrm>
            <a:off x="6312298" y="5437923"/>
            <a:ext cx="5247300" cy="69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/>
              <a:t>Solo para elementos</a:t>
            </a:r>
            <a:br>
              <a:rPr b="1" lang="es-ES"/>
            </a:br>
            <a:r>
              <a:rPr lang="es-ES"/>
              <a:t>No espera condiciones personalizadas como JS cargado</a:t>
            </a:r>
            <a:endParaRPr/>
          </a:p>
        </p:txBody>
      </p:sp>
      <p:sp>
        <p:nvSpPr>
          <p:cNvPr id="72" name="Google Shape;72;p11"/>
          <p:cNvSpPr/>
          <p:nvPr/>
        </p:nvSpPr>
        <p:spPr>
          <a:xfrm>
            <a:off x="6264825" y="4464648"/>
            <a:ext cx="5247300" cy="69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/>
              <a:t>Timeout configurable</a:t>
            </a:r>
            <a:br>
              <a:rPr b="1" lang="es-ES"/>
            </a:br>
            <a:r>
              <a:rPr lang="es-ES"/>
              <a:t>Por defecto es 0 segundos (sin espera)</a:t>
            </a:r>
            <a:endParaRPr/>
          </a:p>
        </p:txBody>
      </p:sp>
      <p:sp>
        <p:nvSpPr>
          <p:cNvPr id="73" name="Google Shape;73;p11"/>
          <p:cNvSpPr txBox="1"/>
          <p:nvPr/>
        </p:nvSpPr>
        <p:spPr>
          <a:xfrm>
            <a:off x="687350" y="3748200"/>
            <a:ext cx="401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s-ES" sz="2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Características clave</a:t>
            </a:r>
            <a:endParaRPr b="1" i="0" sz="28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3814" y="416414"/>
            <a:ext cx="1031142" cy="103114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2"/>
          <p:cNvSpPr txBox="1"/>
          <p:nvPr/>
        </p:nvSpPr>
        <p:spPr>
          <a:xfrm>
            <a:off x="768344" y="1127775"/>
            <a:ext cx="912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s-ES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Buenas prácticas y errores comunes</a:t>
            </a:r>
            <a:endParaRPr b="1" i="0" sz="30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" name="Google Shape;80;p12"/>
          <p:cNvSpPr/>
          <p:nvPr/>
        </p:nvSpPr>
        <p:spPr>
          <a:xfrm>
            <a:off x="768350" y="2095500"/>
            <a:ext cx="4172100" cy="554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chemeClr val="lt1"/>
                </a:solidFill>
              </a:rPr>
              <a:t>Buenas </a:t>
            </a:r>
            <a:r>
              <a:rPr b="1" lang="es-ES">
                <a:solidFill>
                  <a:schemeClr val="lt1"/>
                </a:solidFill>
              </a:rPr>
              <a:t>prácticas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1" name="Google Shape;81;p12"/>
          <p:cNvSpPr/>
          <p:nvPr/>
        </p:nvSpPr>
        <p:spPr>
          <a:xfrm>
            <a:off x="7035800" y="2095500"/>
            <a:ext cx="4172100" cy="55410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chemeClr val="lt1"/>
                </a:solidFill>
              </a:rPr>
              <a:t>Errores comunes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2" name="Google Shape;82;p12"/>
          <p:cNvSpPr/>
          <p:nvPr/>
        </p:nvSpPr>
        <p:spPr>
          <a:xfrm>
            <a:off x="768350" y="2904175"/>
            <a:ext cx="4172100" cy="554100"/>
          </a:xfrm>
          <a:prstGeom prst="rect">
            <a:avLst/>
          </a:prstGeom>
          <a:solidFill>
            <a:srgbClr val="F0FBF4"/>
          </a:solidFill>
          <a:ln cap="flat" cmpd="sng" w="95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Definir la espera justo después de crear el driver</a:t>
            </a:r>
            <a:endParaRPr/>
          </a:p>
        </p:txBody>
      </p:sp>
      <p:sp>
        <p:nvSpPr>
          <p:cNvPr id="83" name="Google Shape;83;p12"/>
          <p:cNvSpPr/>
          <p:nvPr/>
        </p:nvSpPr>
        <p:spPr>
          <a:xfrm>
            <a:off x="7035800" y="2904175"/>
            <a:ext cx="4172100" cy="554100"/>
          </a:xfrm>
          <a:prstGeom prst="rect">
            <a:avLst/>
          </a:prstGeom>
          <a:solidFill>
            <a:srgbClr val="FDF2F2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Mezclar implícita + </a:t>
            </a:r>
            <a:r>
              <a:rPr lang="es-ES"/>
              <a:t>explícita</a:t>
            </a:r>
            <a:r>
              <a:rPr lang="es-ES"/>
              <a:t> </a:t>
            </a:r>
            <a:r>
              <a:rPr lang="es-ES" sz="13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es-ES"/>
              <a:t>comportamiento impredecible</a:t>
            </a:r>
            <a:endParaRPr/>
          </a:p>
        </p:txBody>
      </p:sp>
      <p:sp>
        <p:nvSpPr>
          <p:cNvPr id="84" name="Google Shape;84;p12"/>
          <p:cNvSpPr/>
          <p:nvPr/>
        </p:nvSpPr>
        <p:spPr>
          <a:xfrm>
            <a:off x="768350" y="3581400"/>
            <a:ext cx="4172100" cy="554100"/>
          </a:xfrm>
          <a:prstGeom prst="rect">
            <a:avLst/>
          </a:prstGeom>
          <a:solidFill>
            <a:srgbClr val="F0FBF4"/>
          </a:solidFill>
          <a:ln cap="flat" cmpd="sng" w="95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Usar valores razonables (5-15s </a:t>
            </a:r>
            <a:r>
              <a:rPr lang="es-ES"/>
              <a:t>según</a:t>
            </a:r>
            <a:r>
              <a:rPr lang="es-ES"/>
              <a:t> el proyecto)</a:t>
            </a:r>
            <a:endParaRPr/>
          </a:p>
        </p:txBody>
      </p:sp>
      <p:sp>
        <p:nvSpPr>
          <p:cNvPr id="85" name="Google Shape;85;p12"/>
          <p:cNvSpPr/>
          <p:nvPr/>
        </p:nvSpPr>
        <p:spPr>
          <a:xfrm>
            <a:off x="7035800" y="3581400"/>
            <a:ext cx="4172100" cy="554100"/>
          </a:xfrm>
          <a:prstGeom prst="rect">
            <a:avLst/>
          </a:prstGeom>
          <a:solidFill>
            <a:srgbClr val="FDF2F2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Valores muy bajos (1-2s) </a:t>
            </a:r>
            <a:r>
              <a:rPr lang="es-ES" sz="13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→ tests inestables(flaky)</a:t>
            </a:r>
            <a:endParaRPr/>
          </a:p>
        </p:txBody>
      </p:sp>
      <p:sp>
        <p:nvSpPr>
          <p:cNvPr id="86" name="Google Shape;86;p12"/>
          <p:cNvSpPr/>
          <p:nvPr/>
        </p:nvSpPr>
        <p:spPr>
          <a:xfrm>
            <a:off x="768350" y="4248150"/>
            <a:ext cx="4172100" cy="554100"/>
          </a:xfrm>
          <a:prstGeom prst="rect">
            <a:avLst/>
          </a:prstGeom>
          <a:solidFill>
            <a:srgbClr val="F0FBF4"/>
          </a:solidFill>
          <a:ln cap="flat" cmpd="sng" w="95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Combinar con estructura Page Object Model (POM)</a:t>
            </a:r>
            <a:endParaRPr/>
          </a:p>
        </p:txBody>
      </p:sp>
      <p:sp>
        <p:nvSpPr>
          <p:cNvPr id="87" name="Google Shape;87;p12"/>
          <p:cNvSpPr/>
          <p:nvPr/>
        </p:nvSpPr>
        <p:spPr>
          <a:xfrm>
            <a:off x="7035800" y="4248150"/>
            <a:ext cx="4172100" cy="554100"/>
          </a:xfrm>
          <a:prstGeom prst="rect">
            <a:avLst/>
          </a:prstGeom>
          <a:solidFill>
            <a:srgbClr val="FDF2F2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Valores muy altos (60s) </a:t>
            </a:r>
            <a:r>
              <a:rPr lang="es-ES" sz="13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→ tests innecesariamente lentos</a:t>
            </a:r>
            <a:endParaRPr/>
          </a:p>
        </p:txBody>
      </p:sp>
      <p:sp>
        <p:nvSpPr>
          <p:cNvPr id="88" name="Google Shape;88;p12"/>
          <p:cNvSpPr/>
          <p:nvPr/>
        </p:nvSpPr>
        <p:spPr>
          <a:xfrm>
            <a:off x="768350" y="4914900"/>
            <a:ext cx="4172100" cy="554100"/>
          </a:xfrm>
          <a:prstGeom prst="rect">
            <a:avLst/>
          </a:prstGeom>
          <a:solidFill>
            <a:srgbClr val="F0FBF4"/>
          </a:solidFill>
          <a:ln cap="flat" cmpd="sng" w="95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Documentar el </a:t>
            </a:r>
            <a:r>
              <a:rPr lang="es-ES"/>
              <a:t>timeout</a:t>
            </a:r>
            <a:r>
              <a:rPr lang="es-ES"/>
              <a:t> en una constante configurable</a:t>
            </a:r>
            <a:endParaRPr/>
          </a:p>
        </p:txBody>
      </p:sp>
      <p:sp>
        <p:nvSpPr>
          <p:cNvPr id="89" name="Google Shape;89;p12"/>
          <p:cNvSpPr/>
          <p:nvPr/>
        </p:nvSpPr>
        <p:spPr>
          <a:xfrm>
            <a:off x="7035800" y="4914900"/>
            <a:ext cx="4172100" cy="554100"/>
          </a:xfrm>
          <a:prstGeom prst="rect">
            <a:avLst/>
          </a:prstGeom>
          <a:solidFill>
            <a:srgbClr val="FDF2F2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Olvidar que aplica sólo a find_element, no a condiciones</a:t>
            </a:r>
            <a:endParaRPr/>
          </a:p>
        </p:txBody>
      </p:sp>
      <p:sp>
        <p:nvSpPr>
          <p:cNvPr id="90" name="Google Shape;90;p12"/>
          <p:cNvSpPr/>
          <p:nvPr/>
        </p:nvSpPr>
        <p:spPr>
          <a:xfrm>
            <a:off x="768350" y="5581650"/>
            <a:ext cx="4172100" cy="554100"/>
          </a:xfrm>
          <a:prstGeom prst="rect">
            <a:avLst/>
          </a:prstGeom>
          <a:solidFill>
            <a:srgbClr val="F0FBF4"/>
          </a:solidFill>
          <a:ln cap="flat" cmpd="sng" w="95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No mezclar </a:t>
            </a:r>
            <a:r>
              <a:rPr lang="es-ES"/>
              <a:t>implícita</a:t>
            </a:r>
            <a:r>
              <a:rPr lang="es-ES"/>
              <a:t> y </a:t>
            </a:r>
            <a:r>
              <a:rPr lang="es-ES"/>
              <a:t>explícita</a:t>
            </a:r>
            <a:r>
              <a:rPr lang="es-ES"/>
              <a:t> en el mismo test</a:t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7035800" y="5581650"/>
            <a:ext cx="4172100" cy="554100"/>
          </a:xfrm>
          <a:prstGeom prst="rect">
            <a:avLst/>
          </a:prstGeom>
          <a:solidFill>
            <a:srgbClr val="FDF2F2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Cambiar el timeout a mitad de la sesión sin documentarlo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395ecbfe78d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3814" y="416414"/>
            <a:ext cx="1031142" cy="103114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95ecbfe78d_0_18"/>
          <p:cNvSpPr txBox="1"/>
          <p:nvPr/>
        </p:nvSpPr>
        <p:spPr>
          <a:xfrm>
            <a:off x="615194" y="1156224"/>
            <a:ext cx="912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s-ES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Sintaxis y ejemplos de </a:t>
            </a:r>
            <a:r>
              <a:rPr b="1" lang="es-ES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código</a:t>
            </a:r>
            <a:endParaRPr b="1" i="0" sz="30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8" name="Google Shape;98;g395ecbfe78d_0_18"/>
          <p:cNvSpPr/>
          <p:nvPr/>
        </p:nvSpPr>
        <p:spPr>
          <a:xfrm>
            <a:off x="615200" y="2095500"/>
            <a:ext cx="4325400" cy="554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chemeClr val="lt1"/>
                </a:solidFill>
              </a:rPr>
              <a:t>Python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9" name="Google Shape;99;g395ecbfe78d_0_18"/>
          <p:cNvSpPr/>
          <p:nvPr/>
        </p:nvSpPr>
        <p:spPr>
          <a:xfrm>
            <a:off x="6700675" y="2095500"/>
            <a:ext cx="4507200" cy="55410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chemeClr val="lt1"/>
                </a:solidFill>
              </a:rPr>
              <a:t>JAVA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00" name="Google Shape;100;g395ecbfe78d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193" y="2871875"/>
            <a:ext cx="4325257" cy="33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95ecbfe78d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0675" y="2871863"/>
            <a:ext cx="4507200" cy="3430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